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76" r:id="rId4"/>
    <p:sldId id="257" r:id="rId5"/>
    <p:sldId id="260" r:id="rId6"/>
    <p:sldId id="259" r:id="rId7"/>
    <p:sldId id="261" r:id="rId8"/>
    <p:sldId id="258" r:id="rId9"/>
    <p:sldId id="262" r:id="rId10"/>
    <p:sldId id="277" r:id="rId11"/>
    <p:sldId id="264" r:id="rId12"/>
    <p:sldId id="267" r:id="rId13"/>
    <p:sldId id="265" r:id="rId14"/>
    <p:sldId id="268" r:id="rId15"/>
    <p:sldId id="266" r:id="rId16"/>
    <p:sldId id="269" r:id="rId17"/>
    <p:sldId id="278" r:id="rId18"/>
    <p:sldId id="270" r:id="rId19"/>
    <p:sldId id="271" r:id="rId20"/>
    <p:sldId id="272" r:id="rId21"/>
    <p:sldId id="274" r:id="rId22"/>
    <p:sldId id="273" r:id="rId23"/>
    <p:sldId id="27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9F580B-8D25-E87E-9F25-5CFA58A26164}" v="872" dt="2025-07-22T19:02:02.483"/>
    <p1510:client id="{3D7E9EA9-2484-D84D-929C-E4B2F03CBF6D}" v="15" dt="2025-07-22T19:14:33.991"/>
    <p1510:client id="{4F603E76-1197-D0B5-5191-D2D5D4848DC7}" v="44" dt="2025-07-22T19:21:43.4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>
      <p:cViewPr varScale="1">
        <p:scale>
          <a:sx n="106" d="100"/>
          <a:sy n="106" d="100"/>
        </p:scale>
        <p:origin x="7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file:///\\Users\thompsondubose\Desktop\Data_Graphs\PumpHeat_up_6_hours.vo.pdf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HeatExchange.flow.vo.pdf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PumpHeat_HeatExhanger.flow.vo.lvm" TargetMode="External"/><Relationship Id="rId2" Type="http://schemas.openxmlformats.org/officeDocument/2006/relationships/hyperlink" Target="file:///\\Users\thompsondubose\Desktop\Data_Graphs\Full_PumpHeat(HeatExchange.flow.vo).pdf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up_6_hours.vc.pdf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PumpHeat_HeatExchanger.0.5flow.vc.lvm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PumpHeat_HeatExchanger.0.5flow.vc.lvm" TargetMode="External"/><Relationship Id="rId2" Type="http://schemas.openxmlformats.org/officeDocument/2006/relationships/hyperlink" Target="file:///\\Users\thompsondubose\Desktop\Data_Graphs\Full_PumpHeat(HeatExchange.0.5flow.vc).pdf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RodHeat_6_hours.vc.pdf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esktop\Data_Graphs\RodHeat_0.5_gal_flow.vc.pdf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esktop\Data_Graphs\RodHeat_NewData.lvm" TargetMode="External"/><Relationship Id="rId2" Type="http://schemas.openxmlformats.org/officeDocument/2006/relationships/hyperlink" Target="file:///\\Users\thompsondubose\Desktop\Data_Graphs\Full_RodHeat(HeatExchange.flow.vc).pdf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Thermal Loop Data Graphs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DDC44-917C-8FDE-EA0E-5BEAF8A92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FA322-40DF-F5FB-E1E9-D1731297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 action="ppaction://hlinksldjump"/>
              </a:rPr>
              <a:t>Pump Heat middle valve open</a:t>
            </a:r>
            <a:endParaRPr lang="en-US" dirty="0"/>
          </a:p>
          <a:p>
            <a:r>
              <a:rPr lang="en-US" dirty="0">
                <a:hlinkClick r:id="rId3" action="ppaction://hlinksldjump"/>
              </a:rPr>
              <a:t>Pump Heat middle valve closed</a:t>
            </a:r>
            <a:endParaRPr lang="en-US" dirty="0"/>
          </a:p>
          <a:p>
            <a:r>
              <a:rPr lang="en-US" dirty="0">
                <a:hlinkClick r:id="rId4" action="ppaction://hlinksldjump"/>
              </a:rPr>
              <a:t>Rod Heat middle valve closed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8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BA8F2-6179-FCEC-D7A0-AFA1AEB9C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Pump Heat Up Data (slides 4-9)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52A67-30C0-DABA-46C8-CB79DB106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Middle valve open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Upper valve open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Heat exchange increments of 0.5 gal/min</a:t>
            </a:r>
          </a:p>
        </p:txBody>
      </p:sp>
    </p:spTree>
    <p:extLst>
      <p:ext uri="{BB962C8B-B14F-4D97-AF65-F5344CB8AC3E}">
        <p14:creationId xmlns:p14="http://schemas.microsoft.com/office/powerpoint/2010/main" val="1951156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179D-8CF1-679E-FD5D-AFDE7EF74F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15577"/>
            <a:ext cx="9144000" cy="941827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Test #1: 6-hour pump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8E1D7-2C53-ED84-C6DA-ECBF1F349C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042219" y="5460335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753F99E-0896-43BA-739A-5E4CC5A083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4702521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Middle valve open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Upper valve open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Heat exchange increments of 0.5 gal/min</a:t>
            </a:r>
          </a:p>
        </p:txBody>
      </p:sp>
      <p:pic>
        <p:nvPicPr>
          <p:cNvPr id="6" name="Picture 5" descr="A graph of a temperature&#10;&#10;AI-generated content may be incorrect.">
            <a:extLst>
              <a:ext uri="{FF2B5EF4-FFF2-40B4-BE49-F238E27FC236}">
                <a16:creationId xmlns:a16="http://schemas.microsoft.com/office/drawing/2014/main" id="{954AFF80-188C-AF7F-BFF2-18DB14683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111" y="1363517"/>
            <a:ext cx="5930019" cy="388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941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C478BE5-06DD-42AD-ED22-AA822C3994B7}"/>
              </a:ext>
            </a:extLst>
          </p:cNvPr>
          <p:cNvSpPr txBox="1">
            <a:spLocks/>
          </p:cNvSpPr>
          <p:nvPr/>
        </p:nvSpPr>
        <p:spPr>
          <a:xfrm>
            <a:off x="838200" y="415577"/>
            <a:ext cx="9144000" cy="941827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Test #1: Additional Slide</a:t>
            </a:r>
          </a:p>
        </p:txBody>
      </p:sp>
      <p:pic>
        <p:nvPicPr>
          <p:cNvPr id="4" name="Picture 3" descr="A graph of a temperature&#10;&#10;AI-generated content may be incorrect.">
            <a:extLst>
              <a:ext uri="{FF2B5EF4-FFF2-40B4-BE49-F238E27FC236}">
                <a16:creationId xmlns:a16="http://schemas.microsoft.com/office/drawing/2014/main" id="{F0E7EDE5-FEE4-C0D4-EA4E-2BCB3CA63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239" y="1648632"/>
            <a:ext cx="6066141" cy="398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18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DA0DD-103C-48ED-5A15-F476DE8C0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7660-1999-3DF6-3043-AA36A51BC6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0.5 gal/min  increments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13F3E-BE55-1365-DE2F-0A11FE9E20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034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A5F5-29E4-902F-F60A-835ABDE80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F97B299B-D0AD-D1AB-4AA1-EEC4CA2D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58" y="-1"/>
            <a:ext cx="10481633" cy="69232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74D836-D5E3-C8CD-39AA-A7D62102A287}"/>
              </a:ext>
            </a:extLst>
          </p:cNvPr>
          <p:cNvSpPr txBox="1"/>
          <p:nvPr/>
        </p:nvSpPr>
        <p:spPr>
          <a:xfrm>
            <a:off x="2995812" y="613386"/>
            <a:ext cx="30998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0.511 gal/min flow rate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D53E67-06D4-27DC-47BB-1EE38DC63DAD}"/>
              </a:ext>
            </a:extLst>
          </p:cNvPr>
          <p:cNvCxnSpPr/>
          <p:nvPr/>
        </p:nvCxnSpPr>
        <p:spPr>
          <a:xfrm flipH="1" flipV="1">
            <a:off x="2659250" y="804708"/>
            <a:ext cx="388749" cy="15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0B5607D-85B4-01BB-AE66-EE4DC3D857F5}"/>
              </a:ext>
            </a:extLst>
          </p:cNvPr>
          <p:cNvSpPr txBox="1"/>
          <p:nvPr/>
        </p:nvSpPr>
        <p:spPr>
          <a:xfrm>
            <a:off x="4146982" y="4361798"/>
            <a:ext cx="24774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1.022 gal/min flow rate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F0B73D-9625-BBAC-F1A2-97D3DA7FF587}"/>
              </a:ext>
            </a:extLst>
          </p:cNvPr>
          <p:cNvCxnSpPr/>
          <p:nvPr/>
        </p:nvCxnSpPr>
        <p:spPr>
          <a:xfrm flipH="1">
            <a:off x="4634212" y="4609735"/>
            <a:ext cx="351295" cy="4752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73F0EA3-1A03-320A-6436-14CC5E15E5BA}"/>
              </a:ext>
            </a:extLst>
          </p:cNvPr>
          <p:cNvSpPr txBox="1"/>
          <p:nvPr/>
        </p:nvSpPr>
        <p:spPr>
          <a:xfrm>
            <a:off x="5705160" y="4846340"/>
            <a:ext cx="264037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1.500 gal/min flow rate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35F1B-871C-EF5A-F501-6E0CDB18B329}"/>
              </a:ext>
            </a:extLst>
          </p:cNvPr>
          <p:cNvCxnSpPr/>
          <p:nvPr/>
        </p:nvCxnSpPr>
        <p:spPr>
          <a:xfrm flipH="1">
            <a:off x="6691692" y="5113649"/>
            <a:ext cx="247973" cy="352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AF13B4-A433-8D34-B4AD-E8BC81E5D20B}"/>
              </a:ext>
            </a:extLst>
          </p:cNvPr>
          <p:cNvSpPr txBox="1"/>
          <p:nvPr/>
        </p:nvSpPr>
        <p:spPr>
          <a:xfrm>
            <a:off x="8345407" y="4853457"/>
            <a:ext cx="26403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2.001 gal/min flow 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48E4D1-07CB-C06E-B3C3-6655C21CDD02}"/>
              </a:ext>
            </a:extLst>
          </p:cNvPr>
          <p:cNvCxnSpPr/>
          <p:nvPr/>
        </p:nvCxnSpPr>
        <p:spPr>
          <a:xfrm flipH="1">
            <a:off x="8608158" y="5120284"/>
            <a:ext cx="254430" cy="359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5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7A5C6-8587-AFEC-380B-8476659A9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1535-2F2D-8E5A-058D-973CF79FB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5881" y="1077160"/>
            <a:ext cx="9260237" cy="2348855"/>
          </a:xfrm>
        </p:spPr>
        <p:txBody>
          <a:bodyPr>
            <a:normAutofit fontScale="90000"/>
          </a:bodyPr>
          <a:lstStyle/>
          <a:p>
            <a:r>
              <a:rPr lang="en-US"/>
              <a:t>6-hour pump heat-up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Heat Exchange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FE0838-7C9C-64B8-0F13-EF2CD7961E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1270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57A68-7BD0-9235-D2AF-828F5164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821DCB4C-FF17-EA93-9E4B-ECBA12A83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21" y="0"/>
            <a:ext cx="10472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651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C270A-1C18-8584-3CDC-5197BF8B0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2806E-E06C-3D5D-B7CC-3B0241CB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Pump Heat Up Data (slides 11-16)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9DD7A-F29D-D7BE-6D84-E0EF6E92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Middle valve closed</a:t>
            </a:r>
          </a:p>
          <a:p>
            <a:r>
              <a:rPr lang="en-US"/>
              <a:t>Upper valve open</a:t>
            </a:r>
          </a:p>
          <a:p>
            <a:r>
              <a:rPr lang="en-US"/>
              <a:t>Heat exchanger 0.5 gal/min at 6 hours</a:t>
            </a:r>
          </a:p>
        </p:txBody>
      </p:sp>
    </p:spTree>
    <p:extLst>
      <p:ext uri="{BB962C8B-B14F-4D97-AF65-F5344CB8AC3E}">
        <p14:creationId xmlns:p14="http://schemas.microsoft.com/office/powerpoint/2010/main" val="3884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1C3F9-0172-AF2A-9893-9EF3F3CFE8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6-hour pump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F39B82-2759-3936-F868-278CA0DCD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073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F681E8-3B12-7D14-7737-3AC199215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40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AF4A-3923-8D59-E148-2251A2FBA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9C8E2-7F03-AD75-EA12-2B8F628CA5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0.5 gal/min Heat </a:t>
            </a:r>
            <a:r>
              <a:rPr lang="en-US" dirty="0" err="1"/>
              <a:t>Exhanger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852917-33A5-5221-720C-974EBFC1DF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37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D8569-D0DD-8128-96BC-FC638846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0582C1-E180-B0E4-D8B8-540538CA8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BD4145-C9C2-9C44-D095-AFB7A328E292}"/>
              </a:ext>
            </a:extLst>
          </p:cNvPr>
          <p:cNvSpPr txBox="1"/>
          <p:nvPr/>
        </p:nvSpPr>
        <p:spPr>
          <a:xfrm>
            <a:off x="3820020" y="1216594"/>
            <a:ext cx="27122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0.511 gal/min flow rate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53F094F-DD5F-304B-1E22-BD06E0FECFB0}"/>
              </a:ext>
            </a:extLst>
          </p:cNvPr>
          <p:cNvCxnSpPr/>
          <p:nvPr/>
        </p:nvCxnSpPr>
        <p:spPr>
          <a:xfrm flipH="1" flipV="1">
            <a:off x="2564435" y="314620"/>
            <a:ext cx="793531" cy="563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58887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7A550-37D4-F3D4-6E50-0FFF6B5AF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49DA-2BFB-C6C3-766E-C662A7FB2F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6-hour pump heat 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D32E18-4C5C-C452-580D-63E8600F6B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82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50B34-B88E-7AA7-ED8A-A717136C8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509DEB-BEDC-8027-2472-4FC83E16C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8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75210-24B8-B231-FF9A-E8C7ADC97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88F5C-4530-E47A-8AE4-4921187E0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Rod Heat Up Data (slides 18-23)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25CB9-6424-2C8C-2823-09580AF9A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Middle Valve closed</a:t>
            </a:r>
          </a:p>
          <a:p>
            <a:r>
              <a:rPr lang="en-US"/>
              <a:t>Upper Valve open</a:t>
            </a:r>
          </a:p>
          <a:p>
            <a:r>
              <a:rPr lang="en-US"/>
              <a:t>Heat Exchanger 0.5 gal/min at 4.5 hours </a:t>
            </a:r>
          </a:p>
        </p:txBody>
      </p:sp>
    </p:spTree>
    <p:extLst>
      <p:ext uri="{BB962C8B-B14F-4D97-AF65-F5344CB8AC3E}">
        <p14:creationId xmlns:p14="http://schemas.microsoft.com/office/powerpoint/2010/main" val="3341309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AFA0A-81AD-5995-88C5-4A23F908B6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4.5-hour Rod heat 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E2A58-31F6-87D6-160C-2603FDE0D6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689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4ABE8A-1041-3D50-98B5-3DCA7B170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3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57CC-E74B-1E39-8C14-E474FB351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A77C7-9BE9-0A5A-45F0-A6A7701D4B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6F679E-E404-CB6D-993F-5EBBA17A19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82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FACB3-BD86-A500-6775-F227F2489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D6B1CE6-CB2C-DC82-233D-C9685D3C4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71F4AD-8B4E-D5B6-5549-57C383A5A352}"/>
              </a:ext>
            </a:extLst>
          </p:cNvPr>
          <p:cNvSpPr txBox="1"/>
          <p:nvPr/>
        </p:nvSpPr>
        <p:spPr>
          <a:xfrm>
            <a:off x="4201020" y="776473"/>
            <a:ext cx="27122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0.511 gal/min flow rate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D7A13-DBC8-40B1-2CB3-0775AD25A95E}"/>
              </a:ext>
            </a:extLst>
          </p:cNvPr>
          <p:cNvCxnSpPr/>
          <p:nvPr/>
        </p:nvCxnSpPr>
        <p:spPr>
          <a:xfrm flipH="1" flipV="1">
            <a:off x="3622706" y="805956"/>
            <a:ext cx="570186" cy="13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7CD71-99E1-5F49-F5E8-942EEB97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AC38F-AABB-689B-6E52-2A898C4D93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4.5-hour Rod Heat 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0.5gal/min Heat Exchanger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D7E0EA-081F-91B1-B66C-922F042561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PDF Graph Download</a:t>
            </a:r>
            <a:endParaRPr lang="en-US" dirty="0"/>
          </a:p>
          <a:p>
            <a:r>
              <a:rPr lang="en-US" dirty="0">
                <a:hlinkClick r:id="rId3"/>
              </a:rPr>
              <a:t>Raw Data File Download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03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FBF2-8AF2-412E-3DF9-98122E1B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610B440-8FE7-51FC-E5B9-91FE08898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39" y="0"/>
            <a:ext cx="104187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74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Words>251</Words>
  <Application>Microsoft Office PowerPoint</Application>
  <PresentationFormat>Widescreen</PresentationFormat>
  <Paragraphs>48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office theme</vt:lpstr>
      <vt:lpstr>Thermal Loop Data Graphs</vt:lpstr>
      <vt:lpstr>Table of Contents</vt:lpstr>
      <vt:lpstr>Pump Heat Up Data (slides 4-9)</vt:lpstr>
      <vt:lpstr>Test #1: 6-hour pump heat up</vt:lpstr>
      <vt:lpstr>PowerPoint Presentation</vt:lpstr>
      <vt:lpstr>0.5 gal/min  increments Heat Exchanger</vt:lpstr>
      <vt:lpstr>PowerPoint Presentation</vt:lpstr>
      <vt:lpstr>6-hour pump heat-up + Heat Exchange</vt:lpstr>
      <vt:lpstr>PowerPoint Presentation</vt:lpstr>
      <vt:lpstr>Pump Heat Up Data (slides 11-16)</vt:lpstr>
      <vt:lpstr>6-hour pump heat up</vt:lpstr>
      <vt:lpstr>PowerPoint Presentation</vt:lpstr>
      <vt:lpstr>0.5 gal/min Heat Exhanger</vt:lpstr>
      <vt:lpstr>PowerPoint Presentation</vt:lpstr>
      <vt:lpstr>6-hour pump heat up + 0.5gal/min Heat exchanger</vt:lpstr>
      <vt:lpstr>PowerPoint Presentation</vt:lpstr>
      <vt:lpstr>Rod Heat Up Data (slides 18-23)</vt:lpstr>
      <vt:lpstr>4.5-hour Rod heat up</vt:lpstr>
      <vt:lpstr>PowerPoint Presentation</vt:lpstr>
      <vt:lpstr>0.5gal/min Heat Exchanger</vt:lpstr>
      <vt:lpstr>PowerPoint Presentation</vt:lpstr>
      <vt:lpstr>4.5-hour Rod Heat Up + 0.5gal/min Heat Exchanger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Downey, Austin</cp:lastModifiedBy>
  <cp:revision>33</cp:revision>
  <dcterms:created xsi:type="dcterms:W3CDTF">2025-07-17T20:15:23Z</dcterms:created>
  <dcterms:modified xsi:type="dcterms:W3CDTF">2025-07-22T19:33:51Z</dcterms:modified>
</cp:coreProperties>
</file>