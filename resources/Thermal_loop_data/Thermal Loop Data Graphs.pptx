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79" r:id="rId5"/>
    <p:sldId id="280" r:id="rId6"/>
    <p:sldId id="281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F580B-8D25-E87E-9F25-5CFA58A26164}" v="872" dt="2025-07-22T19:02:02.483"/>
    <p1510:client id="{3D7E9EA9-2484-D84D-929C-E4B2F03CBF6D}" v="15" dt="2025-07-22T19:14:33.991"/>
    <p1510:client id="{4F603E76-1197-D0B5-5191-D2D5D4848DC7}" v="617" dt="2025-07-22T20:24:25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Thermal Loop Data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179D-8CF1-679E-FD5D-AFDE7EF74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526" y="174073"/>
            <a:ext cx="12155424" cy="985520"/>
          </a:xfrm>
        </p:spPr>
        <p:txBody>
          <a:bodyPr>
            <a:normAutofit/>
          </a:bodyPr>
          <a:lstStyle/>
          <a:p>
            <a:r>
              <a:rPr lang="en-US" dirty="0"/>
              <a:t>Test #1: Pump Heat up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121C12-D473-6940-FFEF-6D8C11156B43}"/>
              </a:ext>
            </a:extLst>
          </p:cNvPr>
          <p:cNvSpPr txBox="1">
            <a:spLocks/>
          </p:cNvSpPr>
          <p:nvPr/>
        </p:nvSpPr>
        <p:spPr>
          <a:xfrm>
            <a:off x="-102" y="2203887"/>
            <a:ext cx="5750542" cy="3583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B0604020202020204" pitchFamily="34" charset="0"/>
              <a:buChar char="-"/>
            </a:pPr>
            <a:r>
              <a:rPr lang="en-US" sz="2800" dirty="0"/>
              <a:t>Middle valve open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800" dirty="0"/>
              <a:t>Upper valve open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800" dirty="0"/>
              <a:t>Heat exchange increments of 0.5 gal/min every 30 mins starting at hour 6</a:t>
            </a:r>
          </a:p>
          <a:p>
            <a:endParaRPr lang="en-US" dirty="0"/>
          </a:p>
        </p:txBody>
      </p:sp>
      <p:pic>
        <p:nvPicPr>
          <p:cNvPr id="6" name="Picture 5" descr="A graph of a temperature&#10;&#10;AI-generated content may be incorrect.">
            <a:extLst>
              <a:ext uri="{FF2B5EF4-FFF2-40B4-BE49-F238E27FC236}">
                <a16:creationId xmlns:a16="http://schemas.microsoft.com/office/drawing/2014/main" id="{FDDB20E8-DAD8-3E7F-6A43-201AE8C5F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62" y="1426464"/>
            <a:ext cx="6460236" cy="4248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ED268D-CF2C-0497-0443-600681C69B51}"/>
              </a:ext>
            </a:extLst>
          </p:cNvPr>
          <p:cNvSpPr txBox="1"/>
          <p:nvPr/>
        </p:nvSpPr>
        <p:spPr>
          <a:xfrm>
            <a:off x="6554491" y="5676254"/>
            <a:ext cx="54373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 </a:t>
            </a:r>
            <a:r>
              <a:rPr lang="en-US" dirty="0" err="1">
                <a:ea typeface="+mn-lt"/>
                <a:cs typeface="+mn-lt"/>
              </a:rPr>
              <a:t>Full_PumpHeat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HeatExchange.flow.vo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33463-40D4-3465-4A18-29C222A9C515}"/>
              </a:ext>
            </a:extLst>
          </p:cNvPr>
          <p:cNvSpPr txBox="1"/>
          <p:nvPr/>
        </p:nvSpPr>
        <p:spPr>
          <a:xfrm>
            <a:off x="71033" y="4462219"/>
            <a:ext cx="56052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Raw Data File name</a:t>
            </a:r>
          </a:p>
          <a:p>
            <a:pPr algn="ctr"/>
            <a:r>
              <a:rPr lang="en-US" dirty="0" err="1"/>
              <a:t>PumpHeat</a:t>
            </a:r>
            <a:r>
              <a:rPr lang="en-US" dirty="0" err="1">
                <a:ea typeface="+mn-lt"/>
                <a:cs typeface="+mn-lt"/>
              </a:rPr>
              <a:t>_HeatExhanger.flow.vo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081941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A5F5-29E4-902F-F60A-835ABDE80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CE29C5-5C9F-547A-E472-5207FB250325}"/>
              </a:ext>
            </a:extLst>
          </p:cNvPr>
          <p:cNvGrpSpPr/>
          <p:nvPr/>
        </p:nvGrpSpPr>
        <p:grpSpPr>
          <a:xfrm>
            <a:off x="6102999" y="1724186"/>
            <a:ext cx="6090373" cy="4003730"/>
            <a:chOff x="904609" y="0"/>
            <a:chExt cx="10385513" cy="6858000"/>
          </a:xfrm>
        </p:grpSpPr>
        <p:pic>
          <p:nvPicPr>
            <p:cNvPr id="3" name="Picture 2" descr="A graph with blue and red lines&#10;&#10;AI-generated content may be incorrect.">
              <a:extLst>
                <a:ext uri="{FF2B5EF4-FFF2-40B4-BE49-F238E27FC236}">
                  <a16:creationId xmlns:a16="http://schemas.microsoft.com/office/drawing/2014/main" id="{F97B299B-D0AD-D1AB-4AA1-EEC4CA2D8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609" y="0"/>
              <a:ext cx="10382782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74D836-D5E3-C8CD-39AA-A7D62102A287}"/>
                </a:ext>
              </a:extLst>
            </p:cNvPr>
            <p:cNvSpPr txBox="1"/>
            <p:nvPr/>
          </p:nvSpPr>
          <p:spPr>
            <a:xfrm>
              <a:off x="2995811" y="613385"/>
              <a:ext cx="3099836" cy="4217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dirty="0"/>
                <a:t>0.511 gal/min flow rate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6D53E67-06D4-27DC-47BB-1EE38DC63DAD}"/>
                </a:ext>
              </a:extLst>
            </p:cNvPr>
            <p:cNvCxnSpPr/>
            <p:nvPr/>
          </p:nvCxnSpPr>
          <p:spPr>
            <a:xfrm flipH="1" flipV="1">
              <a:off x="2659250" y="804708"/>
              <a:ext cx="388749" cy="154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B5607D-85B4-01BB-AE66-EE4DC3D857F5}"/>
                </a:ext>
              </a:extLst>
            </p:cNvPr>
            <p:cNvSpPr txBox="1"/>
            <p:nvPr/>
          </p:nvSpPr>
          <p:spPr>
            <a:xfrm>
              <a:off x="4021169" y="4135612"/>
              <a:ext cx="2477400" cy="4217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dirty="0"/>
                <a:t>1.022 gal/min flow rate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DF0B73D-9625-BBAC-F1A2-97D3DA7FF587}"/>
                </a:ext>
              </a:extLst>
            </p:cNvPr>
            <p:cNvCxnSpPr/>
            <p:nvPr/>
          </p:nvCxnSpPr>
          <p:spPr>
            <a:xfrm flipH="1">
              <a:off x="4634212" y="4609735"/>
              <a:ext cx="351295" cy="4752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3F0EA3-1A03-320A-6436-14CC5E15E5BA}"/>
                </a:ext>
              </a:extLst>
            </p:cNvPr>
            <p:cNvSpPr txBox="1"/>
            <p:nvPr/>
          </p:nvSpPr>
          <p:spPr>
            <a:xfrm>
              <a:off x="6093325" y="4650925"/>
              <a:ext cx="2640376" cy="4217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dirty="0"/>
                <a:t>1.500 gal/min flow rate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3335F1B-871C-EF5A-F501-6E0CDB18B329}"/>
                </a:ext>
              </a:extLst>
            </p:cNvPr>
            <p:cNvCxnSpPr/>
            <p:nvPr/>
          </p:nvCxnSpPr>
          <p:spPr>
            <a:xfrm flipH="1">
              <a:off x="6691692" y="5113649"/>
              <a:ext cx="247973" cy="3525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AF13B4-A433-8D34-B4AD-E8BC81E5D20B}"/>
                </a:ext>
              </a:extLst>
            </p:cNvPr>
            <p:cNvSpPr txBox="1"/>
            <p:nvPr/>
          </p:nvSpPr>
          <p:spPr>
            <a:xfrm>
              <a:off x="8649744" y="4682579"/>
              <a:ext cx="2640378" cy="4217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dirty="0"/>
                <a:t>2.001 gal/min flow rate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648E4D1-07CB-C06E-B3C3-6655C21CDD02}"/>
                </a:ext>
              </a:extLst>
            </p:cNvPr>
            <p:cNvCxnSpPr/>
            <p:nvPr/>
          </p:nvCxnSpPr>
          <p:spPr>
            <a:xfrm flipH="1">
              <a:off x="8608158" y="5120284"/>
              <a:ext cx="254430" cy="35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A4E29862-45EF-EFCB-23C2-39535454C7B1}"/>
              </a:ext>
            </a:extLst>
          </p:cNvPr>
          <p:cNvSpPr txBox="1">
            <a:spLocks/>
          </p:cNvSpPr>
          <p:nvPr/>
        </p:nvSpPr>
        <p:spPr>
          <a:xfrm>
            <a:off x="768458" y="373278"/>
            <a:ext cx="10667998" cy="8313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Test #1: Additional close up data</a:t>
            </a:r>
          </a:p>
        </p:txBody>
      </p:sp>
      <p:pic>
        <p:nvPicPr>
          <p:cNvPr id="15" name="Picture 14" descr="A graph of a temperature&#10;&#10;AI-generated content may be incorrect.">
            <a:extLst>
              <a:ext uri="{FF2B5EF4-FFF2-40B4-BE49-F238E27FC236}">
                <a16:creationId xmlns:a16="http://schemas.microsoft.com/office/drawing/2014/main" id="{5E740EC8-E100-B532-4001-A1326779D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" y="1712966"/>
            <a:ext cx="6096025" cy="40168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61DCAB-57C9-4BC2-5725-EF01B9D00D0C}"/>
              </a:ext>
            </a:extLst>
          </p:cNvPr>
          <p:cNvSpPr txBox="1"/>
          <p:nvPr/>
        </p:nvSpPr>
        <p:spPr>
          <a:xfrm>
            <a:off x="6554491" y="5863525"/>
            <a:ext cx="54373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 </a:t>
            </a:r>
            <a:r>
              <a:rPr lang="en-US" dirty="0" err="1">
                <a:ea typeface="+mn-lt"/>
                <a:cs typeface="+mn-lt"/>
              </a:rPr>
              <a:t>PumpHeat_HeatExchange.flow.vo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56791C-E7FF-486D-AD36-4FF68C2878CA}"/>
              </a:ext>
            </a:extLst>
          </p:cNvPr>
          <p:cNvSpPr txBox="1"/>
          <p:nvPr/>
        </p:nvSpPr>
        <p:spPr>
          <a:xfrm>
            <a:off x="1075840" y="5860942"/>
            <a:ext cx="39520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 </a:t>
            </a:r>
            <a:r>
              <a:rPr lang="en-US" dirty="0">
                <a:ea typeface="+mn-lt"/>
                <a:cs typeface="+mn-lt"/>
              </a:rPr>
              <a:t>PumpHeat_up_6_hours.vo</a:t>
            </a:r>
          </a:p>
        </p:txBody>
      </p:sp>
    </p:spTree>
    <p:extLst>
      <p:ext uri="{BB962C8B-B14F-4D97-AF65-F5344CB8AC3E}">
        <p14:creationId xmlns:p14="http://schemas.microsoft.com/office/powerpoint/2010/main" val="387935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68DE-A81B-6676-4AE6-12BEB1E4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6050-1BEB-14F2-FC84-89BDF0DB9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526" y="174073"/>
            <a:ext cx="12155424" cy="985520"/>
          </a:xfrm>
        </p:spPr>
        <p:txBody>
          <a:bodyPr>
            <a:normAutofit/>
          </a:bodyPr>
          <a:lstStyle/>
          <a:p>
            <a:r>
              <a:rPr lang="en-US" dirty="0"/>
              <a:t>Test #2: Pump Heat up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50B7DB-0F81-9B3E-A80A-4C15DA99A7E8}"/>
              </a:ext>
            </a:extLst>
          </p:cNvPr>
          <p:cNvSpPr txBox="1">
            <a:spLocks/>
          </p:cNvSpPr>
          <p:nvPr/>
        </p:nvSpPr>
        <p:spPr>
          <a:xfrm>
            <a:off x="-122798" y="2100565"/>
            <a:ext cx="6041136" cy="37905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 dirty="0"/>
              <a:t>Middle valve closed</a:t>
            </a:r>
            <a:endParaRPr lang="en-US" dirty="0"/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 dirty="0"/>
              <a:t>Upper valve open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 dirty="0"/>
              <a:t>Heat exchanger 0.5 gal/min flow rate at 6 hours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graph of a temperature&#10;&#10;AI-generated content may be incorrect.">
            <a:extLst>
              <a:ext uri="{FF2B5EF4-FFF2-40B4-BE49-F238E27FC236}">
                <a16:creationId xmlns:a16="http://schemas.microsoft.com/office/drawing/2014/main" id="{A2C64901-441C-57ED-424C-1BC6BD454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124" y="1423939"/>
            <a:ext cx="6439388" cy="4248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F52179-93A8-42F1-93B8-6038708DCDC9}"/>
              </a:ext>
            </a:extLst>
          </p:cNvPr>
          <p:cNvSpPr txBox="1"/>
          <p:nvPr/>
        </p:nvSpPr>
        <p:spPr>
          <a:xfrm>
            <a:off x="6347847" y="5889355"/>
            <a:ext cx="57343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 </a:t>
            </a:r>
            <a:r>
              <a:rPr lang="en-US" dirty="0" err="1">
                <a:ea typeface="+mn-lt"/>
                <a:cs typeface="+mn-lt"/>
              </a:rPr>
              <a:t>Full_PumpHeat</a:t>
            </a:r>
            <a:r>
              <a:rPr lang="en-US" dirty="0">
                <a:ea typeface="+mn-lt"/>
                <a:cs typeface="+mn-lt"/>
              </a:rPr>
              <a:t>(HeatExchange.0.5flow.vc)</a:t>
            </a:r>
            <a:endParaRPr lang="en-US" dirty="0" err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9CB1C3-F9C8-FCF7-6040-902B8F3A10A5}"/>
              </a:ext>
            </a:extLst>
          </p:cNvPr>
          <p:cNvSpPr txBox="1"/>
          <p:nvPr/>
        </p:nvSpPr>
        <p:spPr>
          <a:xfrm>
            <a:off x="71033" y="4462219"/>
            <a:ext cx="56052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Raw Data File name </a:t>
            </a:r>
            <a:r>
              <a:rPr lang="en-US" dirty="0">
                <a:ea typeface="+mn-lt"/>
                <a:cs typeface="+mn-lt"/>
              </a:rPr>
              <a:t>PumpHeat_HeatExchanger.0.5flow.vc.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9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F58F-F26C-BD7B-826D-5853214AB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E9446C5-CE24-A01A-46C0-41E84B2002A0}"/>
              </a:ext>
            </a:extLst>
          </p:cNvPr>
          <p:cNvSpPr txBox="1">
            <a:spLocks/>
          </p:cNvSpPr>
          <p:nvPr/>
        </p:nvSpPr>
        <p:spPr>
          <a:xfrm>
            <a:off x="768458" y="373278"/>
            <a:ext cx="10667998" cy="8313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Test #2: Additional close up data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9C531E-FC6B-0A40-DB5C-546F600A2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43" y="1711271"/>
            <a:ext cx="6085655" cy="4010187"/>
          </a:xfrm>
          <a:prstGeom prst="rect">
            <a:avLst/>
          </a:prstGeom>
        </p:spPr>
      </p:pic>
      <p:pic>
        <p:nvPicPr>
          <p:cNvPr id="17" name="Picture 16" descr="A graph of a temperature&#10;&#10;AI-generated content may be incorrect.">
            <a:extLst>
              <a:ext uri="{FF2B5EF4-FFF2-40B4-BE49-F238E27FC236}">
                <a16:creationId xmlns:a16="http://schemas.microsoft.com/office/drawing/2014/main" id="{7C917F1E-5978-2D30-56AD-79BF15C55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" y="1717598"/>
            <a:ext cx="6078413" cy="40038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2B336D7-A0FD-9AF3-43D4-E764063ECC59}"/>
              </a:ext>
            </a:extLst>
          </p:cNvPr>
          <p:cNvSpPr txBox="1"/>
          <p:nvPr/>
        </p:nvSpPr>
        <p:spPr>
          <a:xfrm>
            <a:off x="8069139" y="2572696"/>
            <a:ext cx="27122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0.511 gal/min flow rate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3332B8-97CB-27C6-8DC3-49951AFECCBD}"/>
              </a:ext>
            </a:extLst>
          </p:cNvPr>
          <p:cNvCxnSpPr/>
          <p:nvPr/>
        </p:nvCxnSpPr>
        <p:spPr>
          <a:xfrm flipH="1" flipV="1">
            <a:off x="7317249" y="2174417"/>
            <a:ext cx="793531" cy="563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384253B-A241-D1AA-019A-D062B6157B55}"/>
              </a:ext>
            </a:extLst>
          </p:cNvPr>
          <p:cNvSpPr txBox="1"/>
          <p:nvPr/>
        </p:nvSpPr>
        <p:spPr>
          <a:xfrm>
            <a:off x="578603" y="5718875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 </a:t>
            </a:r>
            <a:r>
              <a:rPr lang="en-US" dirty="0">
                <a:ea typeface="+mn-lt"/>
                <a:cs typeface="+mn-lt"/>
              </a:rPr>
              <a:t>PumpHeat_up_6_hours.vc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D4DDC8-E033-4252-6812-536A9CBD61B5}"/>
              </a:ext>
            </a:extLst>
          </p:cNvPr>
          <p:cNvSpPr txBox="1"/>
          <p:nvPr/>
        </p:nvSpPr>
        <p:spPr>
          <a:xfrm>
            <a:off x="6564823" y="5718874"/>
            <a:ext cx="57266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 PumpHeat</a:t>
            </a:r>
            <a:r>
              <a:rPr lang="en-US" dirty="0">
                <a:ea typeface="+mn-lt"/>
                <a:cs typeface="+mn-lt"/>
              </a:rPr>
              <a:t>_HeatExchange_0.5gal._flow.vc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92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992B-5CA2-DCFC-B54B-DC475D78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2302-D653-5496-5445-A6FD07B1C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526" y="174073"/>
            <a:ext cx="12155424" cy="985520"/>
          </a:xfrm>
        </p:spPr>
        <p:txBody>
          <a:bodyPr>
            <a:normAutofit/>
          </a:bodyPr>
          <a:lstStyle/>
          <a:p>
            <a:r>
              <a:rPr lang="en-US" dirty="0"/>
              <a:t>Test #3: Rod Heat up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0A09DB-E398-24A0-038C-5DF67CA531DE}"/>
              </a:ext>
            </a:extLst>
          </p:cNvPr>
          <p:cNvSpPr txBox="1">
            <a:spLocks/>
          </p:cNvSpPr>
          <p:nvPr/>
        </p:nvSpPr>
        <p:spPr>
          <a:xfrm>
            <a:off x="-122798" y="2100565"/>
            <a:ext cx="6041136" cy="37905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/>
              <a:t>Middle Valve closed</a:t>
            </a:r>
            <a:endParaRPr lang="en-US"/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 dirty="0"/>
              <a:t>Upper Valve open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/>
              <a:t>Heat Exchanger 0.5 gal/min at 4.5 hours </a:t>
            </a:r>
            <a:endParaRPr lang="en-US"/>
          </a:p>
          <a:p>
            <a:endParaRPr lang="en-US" dirty="0"/>
          </a:p>
        </p:txBody>
      </p:sp>
      <p:pic>
        <p:nvPicPr>
          <p:cNvPr id="6" name="Picture 5" descr="A graph showing the temperature&#10;&#10;AI-generated content may be incorrect.">
            <a:extLst>
              <a:ext uri="{FF2B5EF4-FFF2-40B4-BE49-F238E27FC236}">
                <a16:creationId xmlns:a16="http://schemas.microsoft.com/office/drawing/2014/main" id="{16B1EE2C-9667-ECFC-F4C6-5D9280AFD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186" y="1307702"/>
            <a:ext cx="6460196" cy="42426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6C3EA2-9C44-DFD4-1C5A-3E36729716D4}"/>
              </a:ext>
            </a:extLst>
          </p:cNvPr>
          <p:cNvSpPr txBox="1"/>
          <p:nvPr/>
        </p:nvSpPr>
        <p:spPr>
          <a:xfrm>
            <a:off x="6384010" y="5550977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 </a:t>
            </a:r>
            <a:r>
              <a:rPr lang="en-US" dirty="0" err="1">
                <a:ea typeface="+mn-lt"/>
                <a:cs typeface="+mn-lt"/>
              </a:rPr>
              <a:t>Full_RodHeat</a:t>
            </a:r>
            <a:r>
              <a:rPr lang="en-US" dirty="0">
                <a:ea typeface="+mn-lt"/>
                <a:cs typeface="+mn-lt"/>
              </a:rPr>
              <a:t>(HeatExchange.flow.vc)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A8332-03B3-3541-C302-F603CBC0B657}"/>
              </a:ext>
            </a:extLst>
          </p:cNvPr>
          <p:cNvSpPr txBox="1"/>
          <p:nvPr/>
        </p:nvSpPr>
        <p:spPr>
          <a:xfrm>
            <a:off x="71033" y="4462219"/>
            <a:ext cx="56052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Raw Data File name</a:t>
            </a:r>
          </a:p>
          <a:p>
            <a:pPr algn="ctr"/>
            <a:r>
              <a:rPr lang="en-US" dirty="0" err="1">
                <a:ea typeface="+mn-lt"/>
                <a:cs typeface="+mn-lt"/>
              </a:rPr>
              <a:t>RodHeat_NewData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8255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15B5-E6B0-4F3B-E2A6-8D69EA42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ABADC48-4F08-33D1-79F0-D5F98C5369E1}"/>
              </a:ext>
            </a:extLst>
          </p:cNvPr>
          <p:cNvSpPr txBox="1">
            <a:spLocks/>
          </p:cNvSpPr>
          <p:nvPr/>
        </p:nvSpPr>
        <p:spPr>
          <a:xfrm>
            <a:off x="768458" y="373278"/>
            <a:ext cx="10667998" cy="8313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Test #3: Additional close up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142C13-9A9F-29C9-3C93-574D7369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" y="1711271"/>
            <a:ext cx="6079196" cy="4003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81B643-8DCF-D925-6D67-43C28C7B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876" y="1713814"/>
            <a:ext cx="6107179" cy="4014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105325-15C0-D12B-6915-1C1F6EA0080A}"/>
              </a:ext>
            </a:extLst>
          </p:cNvPr>
          <p:cNvSpPr txBox="1"/>
          <p:nvPr/>
        </p:nvSpPr>
        <p:spPr>
          <a:xfrm>
            <a:off x="8217664" y="2158405"/>
            <a:ext cx="27122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0.511 gal/min flow rate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8FF47F-427F-914D-8F78-95C67029F7E0}"/>
              </a:ext>
            </a:extLst>
          </p:cNvPr>
          <p:cNvCxnSpPr/>
          <p:nvPr/>
        </p:nvCxnSpPr>
        <p:spPr>
          <a:xfrm flipH="1" flipV="1">
            <a:off x="7639350" y="2187888"/>
            <a:ext cx="570186" cy="130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91E04B-A2BB-2D14-0B64-70E7A6C889B2}"/>
              </a:ext>
            </a:extLst>
          </p:cNvPr>
          <p:cNvSpPr txBox="1"/>
          <p:nvPr/>
        </p:nvSpPr>
        <p:spPr>
          <a:xfrm>
            <a:off x="6558366" y="5835113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 </a:t>
            </a:r>
            <a:r>
              <a:rPr lang="en-US" dirty="0">
                <a:ea typeface="+mn-lt"/>
                <a:cs typeface="+mn-lt"/>
              </a:rPr>
              <a:t>RodHeat_0.5_gal_flow.vc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852178-18FF-A291-F1D4-E36EDD4443C5}"/>
              </a:ext>
            </a:extLst>
          </p:cNvPr>
          <p:cNvSpPr txBox="1"/>
          <p:nvPr/>
        </p:nvSpPr>
        <p:spPr>
          <a:xfrm>
            <a:off x="468824" y="5835113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 </a:t>
            </a:r>
            <a:r>
              <a:rPr lang="en-US" dirty="0">
                <a:ea typeface="+mn-lt"/>
                <a:cs typeface="+mn-lt"/>
              </a:rPr>
              <a:t>RodHeat_6_hours.vc</a:t>
            </a:r>
          </a:p>
        </p:txBody>
      </p:sp>
    </p:spTree>
    <p:extLst>
      <p:ext uri="{BB962C8B-B14F-4D97-AF65-F5344CB8AC3E}">
        <p14:creationId xmlns:p14="http://schemas.microsoft.com/office/powerpoint/2010/main" val="1566582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215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Thermal Loop Data Graphs</vt:lpstr>
      <vt:lpstr>Test #1: Pump Heat up</vt:lpstr>
      <vt:lpstr>PowerPoint Presentation</vt:lpstr>
      <vt:lpstr>Test #2: Pump Heat up</vt:lpstr>
      <vt:lpstr>PowerPoint Presentation</vt:lpstr>
      <vt:lpstr>Test #3: Rod Heat 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Thompson DuBose</cp:lastModifiedBy>
  <cp:revision>436</cp:revision>
  <dcterms:created xsi:type="dcterms:W3CDTF">2025-07-17T20:15:23Z</dcterms:created>
  <dcterms:modified xsi:type="dcterms:W3CDTF">2025-07-22T20:25:41Z</dcterms:modified>
</cp:coreProperties>
</file>