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3" r:id="rId3"/>
    <p:sldId id="276" r:id="rId4"/>
    <p:sldId id="257" r:id="rId5"/>
    <p:sldId id="260" r:id="rId6"/>
    <p:sldId id="259" r:id="rId7"/>
    <p:sldId id="261" r:id="rId8"/>
    <p:sldId id="258" r:id="rId9"/>
    <p:sldId id="262" r:id="rId10"/>
    <p:sldId id="277" r:id="rId11"/>
    <p:sldId id="264" r:id="rId12"/>
    <p:sldId id="267" r:id="rId13"/>
    <p:sldId id="265" r:id="rId14"/>
    <p:sldId id="268" r:id="rId15"/>
    <p:sldId id="266" r:id="rId16"/>
    <p:sldId id="269" r:id="rId17"/>
    <p:sldId id="278" r:id="rId18"/>
    <p:sldId id="270" r:id="rId19"/>
    <p:sldId id="271" r:id="rId20"/>
    <p:sldId id="272" r:id="rId21"/>
    <p:sldId id="274" r:id="rId22"/>
    <p:sldId id="273" r:id="rId23"/>
    <p:sldId id="275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A9F580B-8D25-E87E-9F25-5CFA58A26164}" v="872" dt="2025-07-22T19:02:02.483"/>
    <p1510:client id="{3D7E9EA9-2484-D84D-929C-E4B2F03CBF6D}" v="15" dt="2025-07-22T19:14:33.99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52"/>
    <p:restoredTop sz="94719"/>
  </p:normalViewPr>
  <p:slideViewPr>
    <p:cSldViewPr snapToGrid="0">
      <p:cViewPr varScale="1">
        <p:scale>
          <a:sx n="119" d="100"/>
          <a:sy n="119" d="100"/>
        </p:scale>
        <p:origin x="216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7/22/2025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7/22/2025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7/22/2025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10.xml"/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Relationship Id="rId4" Type="http://schemas.openxmlformats.org/officeDocument/2006/relationships/slide" Target="slide1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file:///\\Users\thompsondubose\Desktop\Data_Graphs\PumpHeat_up_6_hours.vo.pdf" TargetMode="Externa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file:///\\Users\thompsondubose\Desktop\Data_Graphs\PumpHeat_HeatExchange.flow.vo.pdf" TargetMode="Externa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file:///\\Users\thompsondubose\Desktop\Data_Graphs\PumpHeat_HeatExhanger.flow.vo.lvm" TargetMode="External"/><Relationship Id="rId2" Type="http://schemas.openxmlformats.org/officeDocument/2006/relationships/hyperlink" Target="file:///\\Users\thompsondubose\Desktop\Data_Graphs\Full_PumpHeat(HeatExchange.flow.vo).pdf" TargetMode="Externa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file:///\\Users\thompsondubose\Desktop\Data_Graphs\PumpHeat_up_6_hours.vc.pdf" TargetMode="Externa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file:///\\Users\thompsondubose\Desktop\Data_Graphs\PumpHeat_HeatExchanger.0.5flow.vc.lvm" TargetMode="Externa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file:///\\Users\thompsondubose\Desktop\Data_Graphs\PumpHeat_HeatExchanger.0.5flow.vc.lvm" TargetMode="External"/><Relationship Id="rId2" Type="http://schemas.openxmlformats.org/officeDocument/2006/relationships/hyperlink" Target="file:///\\Users\thompsondubose\Desktop\Data_Graphs\Full_PumpHeat(HeatExchange.0.5flow.vc).pdf" TargetMode="Externa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file:///\\Users\thompsondubose\Desktop\Data_Graphs\RodHeat_6_hours.vc.pdf" TargetMode="Externa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file:///\\Users\thompsondubose\Desktop\Data_Graphs\RodHeat_0.5_gal_flow.vc.pdf" TargetMode="Externa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file:///\\Users\thompsondubose\Desktop\Data_Graphs\RodHeat_NewData.lvm" TargetMode="External"/><Relationship Id="rId2" Type="http://schemas.openxmlformats.org/officeDocument/2006/relationships/hyperlink" Target="file:///\\Users\thompsondubose\Desktop\Data_Graphs\Full_RodHeat(HeatExchange.flow.vc).pdf" TargetMode="Externa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Thermal Loop Data Graphs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EDDC44-917C-8FDE-EA0E-5BEAF8A924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9FA322-40DF-F5FB-E1E9-D173129716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hlinkClick r:id="rId2" action="ppaction://hlinksldjump"/>
              </a:rPr>
              <a:t>Pump Heat middle valve open</a:t>
            </a:r>
            <a:endParaRPr lang="en-US" dirty="0"/>
          </a:p>
          <a:p>
            <a:r>
              <a:rPr lang="en-US" dirty="0">
                <a:hlinkClick r:id="rId3" action="ppaction://hlinksldjump"/>
              </a:rPr>
              <a:t>Pump Heat middle valve closed</a:t>
            </a:r>
            <a:endParaRPr lang="en-US" dirty="0"/>
          </a:p>
          <a:p>
            <a:r>
              <a:rPr lang="en-US" dirty="0">
                <a:hlinkClick r:id="rId4" action="ppaction://hlinksldjump"/>
              </a:rPr>
              <a:t>Rod Heat middle valve closed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48469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ABA8F2-6179-FCEC-D7A0-AFA1AEB9CD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Pump Heat Up Data (slides 4-9)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652A67-30C0-DABA-46C8-CB79DB106F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>
              <a:buFont typeface="Calibri" panose="020B0604020202020204" pitchFamily="34" charset="0"/>
              <a:buChar char="-"/>
            </a:pPr>
            <a:r>
              <a:rPr lang="en-US"/>
              <a:t>Middle valve open</a:t>
            </a:r>
          </a:p>
          <a:p>
            <a:pPr>
              <a:buFont typeface="Calibri" panose="020B0604020202020204" pitchFamily="34" charset="0"/>
              <a:buChar char="-"/>
            </a:pPr>
            <a:r>
              <a:rPr lang="en-US"/>
              <a:t>Upper valve open</a:t>
            </a:r>
          </a:p>
          <a:p>
            <a:pPr>
              <a:buFont typeface="Calibri" panose="020B0604020202020204" pitchFamily="34" charset="0"/>
              <a:buChar char="-"/>
            </a:pPr>
            <a:r>
              <a:rPr lang="en-US"/>
              <a:t>Heat exchange increments of 0.5 gal/min</a:t>
            </a:r>
          </a:p>
        </p:txBody>
      </p:sp>
    </p:spTree>
    <p:extLst>
      <p:ext uri="{BB962C8B-B14F-4D97-AF65-F5344CB8AC3E}">
        <p14:creationId xmlns:p14="http://schemas.microsoft.com/office/powerpoint/2010/main" val="19511561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1E179D-8CF1-679E-FD5D-AFDE7EF74FD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6-hour pump heat up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2B8E1D7-2C53-ED84-C6DA-ECBF1F349C6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hlinkClick r:id="rId2"/>
              </a:rPr>
              <a:t>PDF Graph Download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19418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aph of a temperature&#10;&#10;AI-generated content may be incorrect.">
            <a:extLst>
              <a:ext uri="{FF2B5EF4-FFF2-40B4-BE49-F238E27FC236}">
                <a16:creationId xmlns:a16="http://schemas.microsoft.com/office/drawing/2014/main" id="{DECCEA62-6FD4-7FAC-BE7B-36040B266B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062" y="0"/>
            <a:ext cx="104298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90189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2DA0DD-103C-48ED-5A15-F476DE8C02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0A7660-1999-3DF6-3043-AA36A51BC65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0.5 gal/min  increments Heat Exchanger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8B13F3E-BE55-1365-DE2F-0A11FE9E20B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hlinkClick r:id="rId2"/>
              </a:rPr>
              <a:t>PDF Graph Download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30342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1A5F5-29E4-902F-F60A-835ABDE80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with blue and red lines&#10;&#10;AI-generated content may be incorrect.">
            <a:extLst>
              <a:ext uri="{FF2B5EF4-FFF2-40B4-BE49-F238E27FC236}">
                <a16:creationId xmlns:a16="http://schemas.microsoft.com/office/drawing/2014/main" id="{F97B299B-D0AD-D1AB-4AA1-EEC4CA2D81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609" y="0"/>
            <a:ext cx="10382782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674D836-D5E3-C8CD-39AA-A7D62102A287}"/>
              </a:ext>
            </a:extLst>
          </p:cNvPr>
          <p:cNvSpPr txBox="1"/>
          <p:nvPr/>
        </p:nvSpPr>
        <p:spPr>
          <a:xfrm>
            <a:off x="2995812" y="613386"/>
            <a:ext cx="309983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0.511 gal/min flow rate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D6D53E67-06D4-27DC-47BB-1EE38DC63DAD}"/>
              </a:ext>
            </a:extLst>
          </p:cNvPr>
          <p:cNvCxnSpPr/>
          <p:nvPr/>
        </p:nvCxnSpPr>
        <p:spPr>
          <a:xfrm flipH="1" flipV="1">
            <a:off x="2659250" y="804708"/>
            <a:ext cx="388749" cy="154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0B5607D-85B4-01BB-AE66-EE4DC3D857F5}"/>
              </a:ext>
            </a:extLst>
          </p:cNvPr>
          <p:cNvSpPr txBox="1"/>
          <p:nvPr/>
        </p:nvSpPr>
        <p:spPr>
          <a:xfrm>
            <a:off x="4146982" y="4361798"/>
            <a:ext cx="24774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1.022 gal/min flow rate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DF0B73D-9625-BBAC-F1A2-97D3DA7FF587}"/>
              </a:ext>
            </a:extLst>
          </p:cNvPr>
          <p:cNvCxnSpPr/>
          <p:nvPr/>
        </p:nvCxnSpPr>
        <p:spPr>
          <a:xfrm flipH="1">
            <a:off x="4634212" y="4609735"/>
            <a:ext cx="351295" cy="4752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A73F0EA3-1A03-320A-6436-14CC5E15E5BA}"/>
              </a:ext>
            </a:extLst>
          </p:cNvPr>
          <p:cNvSpPr txBox="1"/>
          <p:nvPr/>
        </p:nvSpPr>
        <p:spPr>
          <a:xfrm>
            <a:off x="5705160" y="4846340"/>
            <a:ext cx="2640377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1.500 gal/min flow rate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3335F1B-871C-EF5A-F501-6E0CDB18B329}"/>
              </a:ext>
            </a:extLst>
          </p:cNvPr>
          <p:cNvCxnSpPr/>
          <p:nvPr/>
        </p:nvCxnSpPr>
        <p:spPr>
          <a:xfrm flipH="1">
            <a:off x="6691692" y="5113649"/>
            <a:ext cx="247973" cy="3525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63AF13B4-A433-8D34-B4AD-E8BC81E5D20B}"/>
              </a:ext>
            </a:extLst>
          </p:cNvPr>
          <p:cNvSpPr txBox="1"/>
          <p:nvPr/>
        </p:nvSpPr>
        <p:spPr>
          <a:xfrm>
            <a:off x="8345407" y="4853457"/>
            <a:ext cx="2640378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2.001 gal/min flow rate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648E4D1-07CB-C06E-B3C3-6655C21CDD02}"/>
              </a:ext>
            </a:extLst>
          </p:cNvPr>
          <p:cNvCxnSpPr/>
          <p:nvPr/>
        </p:nvCxnSpPr>
        <p:spPr>
          <a:xfrm flipH="1">
            <a:off x="8608158" y="5120284"/>
            <a:ext cx="254430" cy="3590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93577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77A5C6-8587-AFEC-380B-8476659A9F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BB1535-2F2D-8E5A-058D-973CF79FBD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65881" y="1077160"/>
            <a:ext cx="9260237" cy="2348855"/>
          </a:xfrm>
        </p:spPr>
        <p:txBody>
          <a:bodyPr>
            <a:normAutofit fontScale="90000"/>
          </a:bodyPr>
          <a:lstStyle/>
          <a:p>
            <a:r>
              <a:rPr lang="en-US"/>
              <a:t>6-hour pump heat-up</a:t>
            </a:r>
            <a:br>
              <a:rPr lang="en-US"/>
            </a:br>
            <a:r>
              <a:rPr lang="en-US"/>
              <a:t>+</a:t>
            </a:r>
            <a:br>
              <a:rPr lang="en-US"/>
            </a:br>
            <a:r>
              <a:rPr lang="en-US"/>
              <a:t>Heat Exchange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1FE0838-7C9C-64B8-0F13-EF2CD7961E6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hlinkClick r:id="rId2"/>
              </a:rPr>
              <a:t>PDF Graph Download</a:t>
            </a:r>
            <a:endParaRPr lang="en-US" dirty="0"/>
          </a:p>
          <a:p>
            <a:r>
              <a:rPr lang="en-US" dirty="0">
                <a:hlinkClick r:id="rId3"/>
              </a:rPr>
              <a:t>Raw Data File Download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12706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57A68-7BD0-9235-D2AF-828F516423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aph of a temperature&#10;&#10;AI-generated content may be incorrect.">
            <a:extLst>
              <a:ext uri="{FF2B5EF4-FFF2-40B4-BE49-F238E27FC236}">
                <a16:creationId xmlns:a16="http://schemas.microsoft.com/office/drawing/2014/main" id="{821DCB4C-FF17-EA93-9E4B-ECBA12A833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621" y="0"/>
            <a:ext cx="1047275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46517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AC270A-1C18-8584-3CDC-5197BF8B0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D2806E-E06C-3D5D-B7CC-3B0241CB6B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Pump Heat Up Data (slides 11-16)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99DD7A-F29D-D7BE-6D84-E0EF6E925C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Middle valve closed</a:t>
            </a:r>
          </a:p>
          <a:p>
            <a:r>
              <a:rPr lang="en-US"/>
              <a:t>Upper valve open</a:t>
            </a:r>
          </a:p>
          <a:p>
            <a:r>
              <a:rPr lang="en-US"/>
              <a:t>Heat exchanger 0.5 gal/min at 6 hours</a:t>
            </a:r>
          </a:p>
        </p:txBody>
      </p:sp>
    </p:spTree>
    <p:extLst>
      <p:ext uri="{BB962C8B-B14F-4D97-AF65-F5344CB8AC3E}">
        <p14:creationId xmlns:p14="http://schemas.microsoft.com/office/powerpoint/2010/main" val="3884647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21C3F9-0172-AF2A-9893-9EF3F3CFE8B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6-hour pump heat up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F39B82-2759-3936-F868-278CA0DCD0D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hlinkClick r:id="rId2"/>
              </a:rPr>
              <a:t>PDF Graph Download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0730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0F681E8-3B12-7D14-7737-3AC1992151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639" y="0"/>
            <a:ext cx="1041872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53405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6FAF4A-3923-8D59-E148-2251A2FBA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D9C8E2-7F03-AD75-EA12-2B8F628CA5C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0.5 gal/min Heat </a:t>
            </a:r>
            <a:r>
              <a:rPr lang="en-US" dirty="0" err="1"/>
              <a:t>Exhanger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852917-33A5-5221-720C-974EBFC1DFA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hlinkClick r:id="rId2"/>
              </a:rPr>
              <a:t>PDF Graph Download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13749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AD8569-D0DD-8128-96BC-FC6388466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E0582C1-E180-B0E4-D8B8-540538CA86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639" y="0"/>
            <a:ext cx="1041872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58887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E7A550-37D4-F3D4-6E50-0FFF6B5AF6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A549DA-2BFB-C6C3-766E-C662A7FB2F8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6-hour pump heat up</a:t>
            </a:r>
            <a:br>
              <a:rPr lang="en-US"/>
            </a:br>
            <a:r>
              <a:rPr lang="en-US"/>
              <a:t>+</a:t>
            </a:r>
            <a:br>
              <a:rPr lang="en-US"/>
            </a:br>
            <a:r>
              <a:rPr lang="en-US"/>
              <a:t>0.5gal/min Heat exchanger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AD32E18-4C5C-C452-580D-63E8600F6BE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hlinkClick r:id="rId2"/>
              </a:rPr>
              <a:t>PDF Graph Download</a:t>
            </a:r>
            <a:endParaRPr lang="en-US" dirty="0"/>
          </a:p>
          <a:p>
            <a:r>
              <a:rPr lang="en-US" dirty="0">
                <a:hlinkClick r:id="rId3"/>
              </a:rPr>
              <a:t>Raw Data File Download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76820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50B34-B88E-7AA7-ED8A-A717136C8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6509DEB-BEDC-8027-2472-4FC83E16C5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639" y="0"/>
            <a:ext cx="1041872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68982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075210-24B8-B231-FF9A-E8C7ADC976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88F5C-4530-E47A-8AE4-4921187E0D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Rod Heat Up Data (slides 18-23)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725CB9-6424-2C8C-2823-09580AF9A8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Middle Valve closed</a:t>
            </a:r>
          </a:p>
          <a:p>
            <a:r>
              <a:rPr lang="en-US"/>
              <a:t>Upper Valve open</a:t>
            </a:r>
          </a:p>
          <a:p>
            <a:r>
              <a:rPr lang="en-US"/>
              <a:t>Heat Exchanger 0.5 gal/min at 4.5 hours </a:t>
            </a:r>
          </a:p>
        </p:txBody>
      </p:sp>
    </p:spTree>
    <p:extLst>
      <p:ext uri="{BB962C8B-B14F-4D97-AF65-F5344CB8AC3E}">
        <p14:creationId xmlns:p14="http://schemas.microsoft.com/office/powerpoint/2010/main" val="33413092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AFA0A-81AD-5995-88C5-4A23F908B64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4.5-hour Rod heat up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7AE2A58-31F6-87D6-160C-2603FDE0D6C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hlinkClick r:id="rId2"/>
              </a:rPr>
              <a:t>PDF Graph Download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56891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F4ABE8A-1041-3D50-98B5-3DCA7B1708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639" y="0"/>
            <a:ext cx="1041872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613509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3F57CC-E74B-1E39-8C14-E474FB351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CA77C7-9BE9-0A5A-45F0-A6A7701D4B9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0.5gal/min Heat Exchanger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26F679E-E404-CB6D-993F-5EBBA17A196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hlinkClick r:id="rId2"/>
              </a:rPr>
              <a:t>PDF Graph Download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5821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FACB3-BD86-A500-6775-F227F24898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D6B1CE6-CB2C-DC82-233D-C9685D3C45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639" y="0"/>
            <a:ext cx="1041872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5558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17CD71-99E1-5F49-F5E8-942EEB975E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AC38F-AABB-689B-6E52-2A898C4D93F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4.5-hour Rod Heat Up</a:t>
            </a:r>
            <a:br>
              <a:rPr lang="en-US"/>
            </a:br>
            <a:r>
              <a:rPr lang="en-US"/>
              <a:t>+</a:t>
            </a:r>
            <a:br>
              <a:rPr lang="en-US"/>
            </a:br>
            <a:r>
              <a:rPr lang="en-US"/>
              <a:t>0.5gal/min Heat Exchanger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FD7E0EA-081F-91B1-B66C-922F0425610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hlinkClick r:id="rId2"/>
              </a:rPr>
              <a:t>PDF Graph Download</a:t>
            </a:r>
            <a:endParaRPr lang="en-US" dirty="0"/>
          </a:p>
          <a:p>
            <a:r>
              <a:rPr lang="en-US" dirty="0">
                <a:hlinkClick r:id="rId3"/>
              </a:rPr>
              <a:t>Raw Data File Download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3032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3FBF2-8AF2-412E-3DF9-98122E1BE6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610B440-8FE7-51FC-E5B9-91FE088982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639" y="0"/>
            <a:ext cx="1041872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97498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215</Words>
  <Application>Microsoft Office PowerPoint</Application>
  <PresentationFormat>Widescreen</PresentationFormat>
  <Paragraphs>42</Paragraphs>
  <Slides>23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4" baseType="lpstr">
      <vt:lpstr>office theme</vt:lpstr>
      <vt:lpstr>Thermal Loop Data Graphs</vt:lpstr>
      <vt:lpstr>Table of Contents</vt:lpstr>
      <vt:lpstr>Pump Heat Up Data (slides 4-9)</vt:lpstr>
      <vt:lpstr>6-hour pump heat up</vt:lpstr>
      <vt:lpstr>PowerPoint Presentation</vt:lpstr>
      <vt:lpstr>0.5 gal/min  increments Heat Exchanger</vt:lpstr>
      <vt:lpstr>PowerPoint Presentation</vt:lpstr>
      <vt:lpstr>6-hour pump heat-up + Heat Exchange</vt:lpstr>
      <vt:lpstr>PowerPoint Presentation</vt:lpstr>
      <vt:lpstr>Pump Heat Up Data (slides 11-16)</vt:lpstr>
      <vt:lpstr>6-hour pump heat up</vt:lpstr>
      <vt:lpstr>PowerPoint Presentation</vt:lpstr>
      <vt:lpstr>0.5 gal/min Heat Exhanger</vt:lpstr>
      <vt:lpstr>PowerPoint Presentation</vt:lpstr>
      <vt:lpstr>6-hour pump heat up + 0.5gal/min Heat exchanger</vt:lpstr>
      <vt:lpstr>PowerPoint Presentation</vt:lpstr>
      <vt:lpstr>Rod Heat Up Data (slides 18-23)</vt:lpstr>
      <vt:lpstr>4.5-hour Rod heat up</vt:lpstr>
      <vt:lpstr>PowerPoint Presentation</vt:lpstr>
      <vt:lpstr>0.5gal/min Heat Exchanger</vt:lpstr>
      <vt:lpstr>PowerPoint Presentation</vt:lpstr>
      <vt:lpstr>4.5-hour Rod Heat Up + 0.5gal/min Heat Exchanger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Thompson DuBose</cp:lastModifiedBy>
  <cp:revision>3</cp:revision>
  <dcterms:created xsi:type="dcterms:W3CDTF">2025-07-17T20:15:23Z</dcterms:created>
  <dcterms:modified xsi:type="dcterms:W3CDTF">2025-07-22T19:17:35Z</dcterms:modified>
</cp:coreProperties>
</file>